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99877"/>
          </a:xfrm>
          <a:prstGeom prst="rect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Training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879277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Generative AI Applications with Amazon Bedrock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907828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Generative AI Applications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2698403"/>
            <a:ext cx="8290661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Bef>
                <a:spcPts val="30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Session Overview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34901" y="13175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787277"/>
            <a:ext cx="3683198" cy="203120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AWS Bedrock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Amazon Bedrock?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Capabilities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&amp; 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26050" y="1787277"/>
            <a:ext cx="3683198" cy="203120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Integration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Cost Optimization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3175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622227"/>
            <a:ext cx="77724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spcBef>
                <a:spcPts val="1500"/>
              </a:spcBef>
              <a:spcAft>
                <a:spcPts val="1000"/>
              </a:spcAft>
              <a:buNone/>
            </a:pPr>
            <a:r>
              <a:rPr lang="en-US" sz="1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training, you will: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137767"/>
            <a:ext cx="7620000" cy="2219474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AWS Bedrock is and its core value proposition</a:t>
            </a:r>
            <a:endParaRPr lang="en-US" sz="1600" dirty="0"/>
          </a:p>
          <a:p>
            <a:pPr algn="l" marL="254000" indent="-2540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key features and capabilities available</a:t>
            </a:r>
            <a:endParaRPr lang="en-US" sz="1600" dirty="0"/>
          </a:p>
          <a:p>
            <a:pPr algn="l" marL="254000" indent="-2540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familiar with the foundation models offered</a:t>
            </a:r>
            <a:endParaRPr lang="en-US" sz="1600" dirty="0"/>
          </a:p>
          <a:p>
            <a:pPr algn="l" marL="254000" indent="-2540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common use cases and applications</a:t>
            </a:r>
            <a:endParaRPr lang="en-US" sz="1600" dirty="0"/>
          </a:p>
          <a:p>
            <a:pPr algn="l" marL="254000" indent="-2540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how to get started with Bedrock</a:t>
            </a:r>
            <a:endParaRPr lang="en-US" sz="1600" dirty="0"/>
          </a:p>
          <a:p>
            <a:pPr algn="l" marL="254000" indent="-2540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best practices for implementation</a:t>
            </a:r>
            <a:endParaRPr lang="en-US" sz="1600" dirty="0"/>
          </a:p>
          <a:p>
            <a:pPr algn="l" marL="254000" indent="-2540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aware of pricing considerations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Revolution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34901" y="13175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622227"/>
            <a:ext cx="3821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2098477"/>
            <a:ext cx="3746599" cy="1408807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Task-specific models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extensive training data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specific domains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development cost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62500" y="1622227"/>
            <a:ext cx="3821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62500" y="2098477"/>
            <a:ext cx="3746599" cy="1408807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General-purpose foundation models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on vast datasets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to multiple use cases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via APIs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with Foundation Models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34901" y="1936700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2241352"/>
            <a:ext cx="803168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AWS Bedrock: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2782342"/>
            <a:ext cx="3810149" cy="99506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Complex model selection</a:t>
            </a:r>
            <a:endParaRPr lang="en-US" sz="1600" dirty="0"/>
          </a:p>
          <a:p>
            <a:pPr algn="l" marL="190500" indent="-190500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Infrastructure management</a:t>
            </a:r>
            <a:endParaRPr lang="en-US" sz="1600" dirty="0"/>
          </a:p>
          <a:p>
            <a:pPr algn="l" marL="190500" indent="-190500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Security &amp; compliance concerns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98950" y="2782342"/>
            <a:ext cx="3810149" cy="99506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High costs for experimentation</a:t>
            </a:r>
            <a:endParaRPr lang="en-US" sz="1600" dirty="0"/>
          </a:p>
          <a:p>
            <a:pPr algn="l" marL="190500" indent="-190500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Vendor lock-in</a:t>
            </a:r>
            <a:endParaRPr lang="en-US" sz="1600" dirty="0"/>
          </a:p>
          <a:p>
            <a:pPr algn="l" marL="190500" indent="-190500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Integration complexity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Overview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3175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622227"/>
            <a:ext cx="7772400" cy="7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 service</a:t>
            </a:r>
            <a:pPr algn="l" indent="0" marL="0">
              <a:lnSpc>
                <a:spcPts val="306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provides easy-to-use APIs for accessing foundation models from leading AI companies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551807"/>
            <a:ext cx="7620000" cy="206528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00100" y="2551807"/>
            <a:ext cx="0" cy="2065288"/>
          </a:xfrm>
          <a:prstGeom prst="line">
            <a:avLst/>
          </a:prstGeom>
          <a:noFill/>
          <a:ln w="762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2742307"/>
            <a:ext cx="7306056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Value Propositions: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8700" y="3189089"/>
            <a:ext cx="7162800" cy="121220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 infrastructure to manage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Enterprise-grade security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Pay only for what you use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Multiple models, easy switching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pPr algn="l" indent="0" marL="0">
              <a:lnSpc>
                <a:spcPts val="175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Low latency, high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58826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Foundation Model Access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930301"/>
            <a:ext cx="7620000" cy="71720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API for multiple models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model comparison and switching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lock-in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774305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Serverless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145780"/>
            <a:ext cx="7620000" cy="4697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infrastructure management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scaling &amp; high availability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742283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Enterprise Security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4113758"/>
            <a:ext cx="7620000" cy="4697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encryption at rest and in transit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endpoints, IAM, PrivateLink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 (2024)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58826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930301"/>
            <a:ext cx="7620000" cy="71720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Latency-optimized inference (Preview)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Prompt caching for faster responses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Model distillation capabilities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774305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Support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145780"/>
            <a:ext cx="7620000" cy="2222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Text, 🖼️ Image, 🎥 Video, 🎵 Audio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494782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RAG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866257"/>
            <a:ext cx="7620000" cy="4697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Rerank models, 📚 Knowledge bases</a:t>
            </a:r>
            <a:endParaRPr lang="en-US" sz="1400" dirty="0"/>
          </a:p>
          <a:p>
            <a:pPr algn="l" marL="190500" indent="-190500">
              <a:lnSpc>
                <a:spcPts val="175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Custom connectors, 📊 GraphRAG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58826"/>
            <a:ext cx="77724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AI Companies: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048917"/>
            <a:ext cx="7620000" cy="1513284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Claude 3.5 series</a:t>
            </a:r>
            <a:endParaRPr lang="en-US" sz="1400" dirty="0"/>
          </a:p>
          <a:p>
            <a:pPr algn="l" marL="254000" indent="-2540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Llama 3.1 (405B, 70B)</a:t>
            </a:r>
            <a:endParaRPr lang="en-US" sz="1400" dirty="0"/>
          </a:p>
          <a:p>
            <a:pPr algn="l" marL="254000" indent="-2540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Titan, Nova series</a:t>
            </a:r>
            <a:endParaRPr lang="en-US" sz="1400" dirty="0"/>
          </a:p>
          <a:p>
            <a:pPr algn="l" marL="254000" indent="-2540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Command, Embed models</a:t>
            </a:r>
            <a:endParaRPr lang="en-US" sz="1400" dirty="0"/>
          </a:p>
          <a:p>
            <a:pPr algn="l" marL="254000" indent="-2540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AI21 Labs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Jurassic models</a:t>
            </a:r>
            <a:endParaRPr lang="en-US" sz="1400" dirty="0"/>
          </a:p>
          <a:p>
            <a:pPr algn="l" marL="254000" indent="-2540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AI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Image &amp; Mistral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3714601"/>
            <a:ext cx="7620000" cy="9525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00100" y="3714601"/>
            <a:ext cx="0" cy="952500"/>
          </a:xfrm>
          <a:prstGeom prst="line">
            <a:avLst/>
          </a:prstGeom>
          <a:noFill/>
          <a:ln w="762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" y="3867001"/>
            <a:ext cx="738378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Catalog (2024):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52 serverless models, 122 marketplace models, 174 total models available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Models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58826"/>
            <a:ext cx="37567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 Sonnet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901726"/>
            <a:ext cx="3683050" cy="69398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l" indent="0" marL="0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Complex reasoning, code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Strengths:</a:t>
            </a:r>
            <a:pPr algn="l" indent="0" marL="0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accuracy, safety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pPr algn="l" indent="0" marL="0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Q&amp;A,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98950" y="1558826"/>
            <a:ext cx="37567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(Meta)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98950" y="1901726"/>
            <a:ext cx="3683050" cy="69398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l" indent="0" marL="0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General-purpose tasks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Strengths:</a:t>
            </a:r>
            <a:pPr algn="l" indent="0" marL="0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Open-source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pPr algn="l" indent="0" marL="0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Chatbots, content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306452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Titan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520827"/>
            <a:ext cx="7620000" cy="342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AWS-native applications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Strengths: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Optimized for AWS services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Use Cases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34901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558826"/>
            <a:ext cx="3918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Content Generation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1901726"/>
            <a:ext cx="3841849" cy="69398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posts, articles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copy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descriptions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7250" y="1558826"/>
            <a:ext cx="3918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Question Answering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67250" y="1901726"/>
            <a:ext cx="3841849" cy="69398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 chatbots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Q&amp;A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811512"/>
            <a:ext cx="3918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Code Generation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4901" y="3154412"/>
            <a:ext cx="3841849" cy="69398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completion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explanation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7250" y="2811512"/>
            <a:ext cx="3918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Text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7250" y="3154412"/>
            <a:ext cx="3841849" cy="69398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summarization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extraction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- Prerequisites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62000" y="122232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01676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Account Setup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873151"/>
            <a:ext cx="7620000" cy="100042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AWS Account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Appropriate IAM permissions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Bedrock access enabled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Region selection (us-east-1, us-west-2, etc.)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3051274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422749"/>
            <a:ext cx="7620000" cy="74399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CLI configured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SDK installed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Python/Node.js/Java (your choice)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API Call Example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3175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749326"/>
            <a:ext cx="7620000" cy="5423892"/>
          </a:xfrm>
          <a:prstGeom prst="roundRect">
            <a:avLst>
              <a:gd name="adj" fmla="val 187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2003227"/>
            <a:ext cx="725444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Example: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Best Practices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58826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IAM &amp; Access Control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930301"/>
            <a:ext cx="7620000" cy="4875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least privilege principle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IAM roles for different environments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519363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Protection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890838"/>
            <a:ext cx="7620000" cy="4875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data in transit (TLS)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VPC endpoints for private access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479899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Content Safety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851374"/>
            <a:ext cx="7620000" cy="4875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Bedrock Guardrails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content filtering &amp;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Best Practices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58826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Model Selection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930301"/>
            <a:ext cx="7620000" cy="4875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appropriate model for task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latency vs. cost trade-offs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544663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Prompt Optimization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916138"/>
            <a:ext cx="7620000" cy="4875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prompt caching for repeated prompts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prompts clearly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530501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Caching &amp; Optimization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901976"/>
            <a:ext cx="7620000" cy="4875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common responses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requests &amp; use streaming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58826"/>
            <a:ext cx="7620000" cy="170274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0100" y="1558826"/>
            <a:ext cx="0" cy="1702743"/>
          </a:xfrm>
          <a:prstGeom prst="line">
            <a:avLst/>
          </a:prstGeom>
          <a:noFill/>
          <a:ln w="762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1901726"/>
            <a:ext cx="73060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700" y="2301776"/>
            <a:ext cx="7162800" cy="74399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upfront costs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minimum commitments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only for what you 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413968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Factors: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3814018"/>
            <a:ext cx="7620000" cy="74399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type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(text, image, embedding)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 tokens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(prompt &amp; response length)</a:t>
            </a:r>
            <a:endParaRPr lang="en-US" sz="1400" dirty="0"/>
          </a:p>
          <a:p>
            <a:pPr algn="l" marL="190500" indent="-190500">
              <a:lnSpc>
                <a:spcPts val="182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(varies by provider)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Pricing (2024)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62000" y="122232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01676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 Sonnet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873151"/>
            <a:ext cx="7620000" cy="5587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1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algn="l"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$3.00 per 1M tokens</a:t>
            </a:r>
            <a:endParaRPr lang="en-US" sz="1500" dirty="0"/>
          </a:p>
          <a:p>
            <a:pPr algn="l" marL="190500" indent="-190500">
              <a:lnSpc>
                <a:spcPts val="21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$15.00 per 1M tokens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584103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70B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955578"/>
            <a:ext cx="7620000" cy="5587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1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algn="l"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$0.65 per 1M tokens</a:t>
            </a:r>
            <a:endParaRPr lang="en-US" sz="1500" dirty="0"/>
          </a:p>
          <a:p>
            <a:pPr algn="l" marL="190500" indent="-190500">
              <a:lnSpc>
                <a:spcPts val="21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$0.65 per 1M tokens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666530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Titan Text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4038005"/>
            <a:ext cx="7620000" cy="5587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1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algn="l"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$0.80 per 1M tokens</a:t>
            </a:r>
            <a:endParaRPr lang="en-US" sz="1500" dirty="0"/>
          </a:p>
          <a:p>
            <a:pPr algn="l" marL="190500" indent="-190500">
              <a:lnSpc>
                <a:spcPts val="21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$0.80 per 1M tokens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4850457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vary by region and model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58826"/>
            <a:ext cx="7620000" cy="311646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0100" y="1558826"/>
            <a:ext cx="0" cy="3116461"/>
          </a:xfrm>
          <a:prstGeom prst="line">
            <a:avLst/>
          </a:prstGeom>
          <a:noFill/>
          <a:ln w="762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2101" y="1812727"/>
            <a:ext cx="717671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2101" y="2288977"/>
            <a:ext cx="7035998" cy="2081659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AWS Bedrock provides easy access to foundation models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Serverless, secure, and cost-effective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Multiple models and providers available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Wide range of use cases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Simple integration with AWS services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Enterprise-grade security and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000" y="1279475"/>
            <a:ext cx="1269950" cy="50750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58826"/>
            <a:ext cx="37567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955602"/>
            <a:ext cx="3683050" cy="9587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25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AWS Bedrock Documentation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AWS Bedrock User Guide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AWS Bedrock API Reference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98950" y="1558826"/>
            <a:ext cx="37567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698950" y="1955602"/>
            <a:ext cx="3683050" cy="9587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25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AWS Bedrock Training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AWS Bedrock Videos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AWS Bedrock Samples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408611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64918"/>
            <a:ext cx="7620000" cy="4953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AWS Bedrock Forum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🐛 AWS Support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1895" y="1611362"/>
            <a:ext cx="4560061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0"/>
              </a:spcAft>
              <a:buNone/>
            </a:pPr>
            <a:r>
              <a:rPr lang="en-US" sz="6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291895" y="3179713"/>
            <a:ext cx="45600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attending!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Amazon Web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Bedrock Training</dc:title>
  <dc:subject>PptxGenJS Presentation</dc:subject>
  <dc:creator>AWS Business Group</dc:creator>
  <cp:lastModifiedBy>AWS Business Group</cp:lastModifiedBy>
  <cp:revision>1</cp:revision>
  <dcterms:created xsi:type="dcterms:W3CDTF">2026-01-22T15:47:51Z</dcterms:created>
  <dcterms:modified xsi:type="dcterms:W3CDTF">2026-01-22T15:47:51Z</dcterms:modified>
</cp:coreProperties>
</file>